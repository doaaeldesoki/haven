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2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57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F2B28A">
              <a:alpha val="18000"/>
            </a:srgbClr>
          </a:solidFill>
          <a:ln w="12700">
            <a:solidFill>
              <a:srgbClr val="F2B28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82880"/>
            <a:ext cx="2926080" cy="2926080"/>
          </a:xfrm>
          <a:prstGeom prst="ellipse">
            <a:avLst/>
          </a:prstGeom>
          <a:solidFill>
            <a:srgbClr val="B5D5A8">
              <a:alpha val="22000"/>
            </a:srgbClr>
          </a:solidFill>
          <a:ln w="12700">
            <a:solidFill>
              <a:srgbClr val="B5D5A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48640"/>
            <a:ext cx="347472" cy="191110"/>
          </a:xfrm>
          <a:prstGeom prst="rect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48640"/>
            <a:ext cx="347472" cy="191110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746699"/>
            <a:ext cx="347472" cy="191110"/>
          </a:xfrm>
          <a:prstGeom prst="rect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746699"/>
            <a:ext cx="347472" cy="191110"/>
          </a:xfrm>
          <a:prstGeom prst="rect">
            <a:avLst/>
          </a:prstGeom>
          <a:solidFill>
            <a:srgbClr val="3A3532"/>
          </a:solidFill>
          <a:ln w="12700">
            <a:solidFill>
              <a:srgbClr val="3A35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Haven Nursery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A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Learning Blooms Naturally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2194560" cy="22860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163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Proposal &amp; Investment Overview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3903657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Haven Nursery  ·  Sheikh Zayed, Giza  ·  </a:t>
            </a:r>
            <a:r>
              <a:rPr lang="ar-EG" sz="1200" dirty="0">
                <a:solidFill>
                  <a:srgbClr val="7A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4297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2F7D890-4918-3685-B95C-DFEF2E70B4A0}"/>
              </a:ext>
            </a:extLst>
          </p:cNvPr>
          <p:cNvSpPr/>
          <p:nvPr/>
        </p:nvSpPr>
        <p:spPr>
          <a:xfrm>
            <a:off x="502920" y="3298366"/>
            <a:ext cx="6400800" cy="411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Doaa </a:t>
            </a:r>
            <a:r>
              <a:rPr lang="en-US" sz="1200" dirty="0" err="1">
                <a:solidFill>
                  <a:srgbClr val="7A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Eldesoki</a:t>
            </a:r>
            <a:r>
              <a:rPr lang="en-US" sz="1200" dirty="0">
                <a:solidFill>
                  <a:srgbClr val="7A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Web Developer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2928"/>
          </a:solidFill>
          <a:ln w="12700">
            <a:solidFill>
              <a:srgbClr val="2D29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8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5D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0" y="109728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Haven Nursery Needs a Website Right Now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697480" cy="73152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16736"/>
            <a:ext cx="621792" cy="621792"/>
          </a:xfrm>
          <a:prstGeom prst="ellipse">
            <a:avLst/>
          </a:prstGeom>
          <a:solidFill>
            <a:srgbClr val="F2B28A">
              <a:alpha val="25000"/>
            </a:srgbClr>
          </a:solidFill>
          <a:ln w="12700">
            <a:solidFill>
              <a:srgbClr val="F2B28A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167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" y="20299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Invisible on Google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" y="2505456"/>
            <a:ext cx="23774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in Sheikh Zayed search for "حضانة مونتيسوري الشيخ زايد" and find your competitors — not Haven. No website means no search presence.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7043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70432"/>
            <a:ext cx="2697480" cy="73152"/>
          </a:xfrm>
          <a:prstGeom prst="rect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316736"/>
            <a:ext cx="621792" cy="621792"/>
          </a:xfrm>
          <a:prstGeom prst="ellipse">
            <a:avLst/>
          </a:prstGeom>
          <a:solidFill>
            <a:srgbClr val="B5D5A8">
              <a:alpha val="25000"/>
            </a:srgbClr>
          </a:solidFill>
          <a:ln w="12700">
            <a:solidFill>
              <a:srgbClr val="B5D5A8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3167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64992" y="20299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Facebook-Only Risk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64992" y="2505456"/>
            <a:ext cx="23774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can limit your reach, change its algorithm, or suspend pages overnight. You don't own it. A website is an asset you control 100%.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17043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170432"/>
            <a:ext cx="2697480" cy="73152"/>
          </a:xfrm>
          <a:prstGeom prst="rect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316736"/>
            <a:ext cx="621792" cy="621792"/>
          </a:xfrm>
          <a:prstGeom prst="ellipse">
            <a:avLst/>
          </a:prstGeom>
          <a:solidFill>
            <a:srgbClr val="C9B9AE">
              <a:alpha val="25000"/>
            </a:srgbClr>
          </a:solidFill>
          <a:ln w="12700">
            <a:solidFill>
              <a:srgbClr val="C9B9AE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3167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45352" y="20299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Competitors Are Ahead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45352" y="2505456"/>
            <a:ext cx="23774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one, Haven signals lower quality — regardless of actual quality.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DF3EC"/>
          </a:solidFill>
          <a:ln w="12700">
            <a:solidFill>
              <a:srgbClr val="FDF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97% of parents research childcare online before making a decision — without a website, Haven is invisible to them.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2928"/>
          </a:solidFill>
          <a:ln w="12700">
            <a:solidFill>
              <a:srgbClr val="2D29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8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B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0" y="109728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Brand-Faithful Website — Built for Haven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professionally designed, bilingual website that captures Haven's brand perfectly — the peach palette, the geometric house logo, the Montessori philosophy — and turns visitors into enrolled families.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59152"/>
            <a:ext cx="1325880" cy="960120"/>
          </a:xfrm>
          <a:prstGeom prst="rect">
            <a:avLst/>
          </a:prstGeom>
          <a:solidFill>
            <a:srgbClr val="2D2928"/>
          </a:solidFill>
          <a:ln w="12700">
            <a:solidFill>
              <a:srgbClr val="2D2928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2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87121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10512" y="2359152"/>
            <a:ext cx="1325880" cy="960120"/>
          </a:xfrm>
          <a:prstGeom prst="rect">
            <a:avLst/>
          </a:prstGeom>
          <a:solidFill>
            <a:srgbClr val="2D2928"/>
          </a:solidFill>
          <a:ln w="12700">
            <a:solidFill>
              <a:srgbClr val="2D2928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10512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2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AR+EN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10512" y="287121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55264" y="2359152"/>
            <a:ext cx="1325880" cy="960120"/>
          </a:xfrm>
          <a:prstGeom prst="rect">
            <a:avLst/>
          </a:prstGeom>
          <a:solidFill>
            <a:srgbClr val="2D2928"/>
          </a:solidFill>
          <a:ln w="12700">
            <a:solidFill>
              <a:srgbClr val="2D2928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55264" y="23774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2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55264" y="287121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Ready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078992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Sections Included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536192"/>
            <a:ext cx="3931920" cy="22860"/>
          </a:xfrm>
          <a:prstGeom prst="rect">
            <a:avLst/>
          </a:prstGeom>
          <a:solidFill>
            <a:srgbClr val="E5DAD5"/>
          </a:solidFill>
          <a:ln w="12700">
            <a:solidFill>
              <a:srgbClr val="E5DA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60020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tagline, CTAs, trust pills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Strip — 30+ children, 98% satisfaction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Programs — Infant Nest, Toddler Garden, Casa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Haven — Montessori philosophy + fees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Daily Activities grid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Gallery — 6-panel masonry layout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Parent Testimonials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section — 4 educators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7-question FAQ accordion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Booking Flow (3-card interactive)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+ Google Maps placeholder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with social links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B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Pixel-Perfect Brand Fidelity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color, every font, every shape extracted directly from Haven's real logo and Facebook cover.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1965960" cy="1005840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834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Peach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1455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#F2B28A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4015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BG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1783080"/>
            <a:ext cx="1965960" cy="1005840"/>
          </a:xfrm>
          <a:prstGeom prst="rect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2834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Green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42032" y="31455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#B5D5A8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42032" y="34015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top-left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18304" y="1783080"/>
            <a:ext cx="1965960" cy="1005840"/>
          </a:xfrm>
          <a:prstGeom prst="rect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2834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Taupe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18304" y="31455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#C9B9AE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18304" y="34015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bottom-left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94576" y="1783080"/>
            <a:ext cx="1965960" cy="1005840"/>
          </a:xfrm>
          <a:prstGeom prst="rect">
            <a:avLst/>
          </a:prstGeom>
          <a:solidFill>
            <a:srgbClr val="2D2928"/>
          </a:solidFill>
          <a:ln w="12700">
            <a:solidFill>
              <a:srgbClr val="2D29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2834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94576" y="31455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#2D2928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94576" y="34015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text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4206240" cy="1115568"/>
          </a:xfrm>
          <a:prstGeom prst="rect">
            <a:avLst/>
          </a:prstGeom>
          <a:solidFill>
            <a:srgbClr val="3A3532"/>
          </a:solidFill>
          <a:ln w="12700">
            <a:solidFill>
              <a:srgbClr val="3A35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22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B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1330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Cormorant Garamond 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Elegant serif for headlines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Jost 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Clean modern sans for body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Amiri 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Arabic RTL font for bilingual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749040"/>
            <a:ext cx="3931920" cy="1115568"/>
          </a:xfrm>
          <a:prstGeom prst="rect">
            <a:avLst/>
          </a:prstGeom>
          <a:solidFill>
            <a:srgbClr val="3A3532"/>
          </a:solidFill>
          <a:ln w="12700">
            <a:solidFill>
              <a:srgbClr val="3A35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822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5D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4133088"/>
            <a:ext cx="256032" cy="230429"/>
          </a:xfrm>
          <a:prstGeom prst="rect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30952" y="4133088"/>
            <a:ext cx="256032" cy="230429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74920" y="4368637"/>
            <a:ext cx="256032" cy="217627"/>
          </a:xfrm>
          <a:prstGeom prst="rect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30952" y="4368637"/>
            <a:ext cx="256032" cy="217627"/>
          </a:xfrm>
          <a:prstGeom prst="rect">
            <a:avLst/>
          </a:prstGeom>
          <a:solidFill>
            <a:srgbClr val="2D2928"/>
          </a:solidFill>
          <a:ln w="12700">
            <a:solidFill>
              <a:srgbClr val="2D29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41330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4-quadrant geometric house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as SVG in nav + footer.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colors from Haven's real logo.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2928"/>
          </a:solidFill>
          <a:ln w="12700">
            <a:solidFill>
              <a:srgbClr val="2D29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8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5D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0" y="109728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Haven Needs — Nothing It Doesn't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" y="1261872"/>
            <a:ext cx="548640" cy="548640"/>
          </a:xfrm>
          <a:prstGeom prst="ellipse">
            <a:avLst/>
          </a:prstGeom>
          <a:solidFill>
            <a:srgbClr val="25D366">
              <a:alpha val="20000"/>
            </a:srgbClr>
          </a:solidFill>
          <a:ln w="12700">
            <a:solidFill>
              <a:srgbClr val="25D366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Booking 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1883664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3-card interactive system. Parents tap a card, choose options with chips, see a pre-written message, and send directly to Haven. Zero friction.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46704" y="1261872"/>
            <a:ext cx="548640" cy="548640"/>
          </a:xfrm>
          <a:prstGeom prst="ellipse">
            <a:avLst/>
          </a:prstGeom>
          <a:solidFill>
            <a:srgbClr val="B5D5A8">
              <a:alpha val="20000"/>
            </a:srgbClr>
          </a:solidFill>
          <a:ln w="12700">
            <a:solidFill>
              <a:srgbClr val="B5D5A8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05072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Bilingual AR/EN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46704" y="1883664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Arabic (RTL) and English toggle. Every word, every button, every FAQ — fully translated and culturally accurate.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115568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1261872"/>
            <a:ext cx="548640" cy="548640"/>
          </a:xfrm>
          <a:prstGeom prst="ellipse">
            <a:avLst/>
          </a:prstGeom>
          <a:solidFill>
            <a:srgbClr val="F2B28A">
              <a:alpha val="20000"/>
            </a:srgbClr>
          </a:solidFill>
          <a:ln w="12700">
            <a:solidFill>
              <a:srgbClr val="F2B28A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31152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 Design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72784" y="1883664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across all screen sizes. iPhone, Android, tablet, desktop — the site looks perfect on every device parents use.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" y="3163824"/>
            <a:ext cx="548640" cy="548640"/>
          </a:xfrm>
          <a:prstGeom prst="ellipse">
            <a:avLst/>
          </a:prstGeom>
          <a:solidFill>
            <a:srgbClr val="C9B9AE">
              <a:alpha val="20000"/>
            </a:srgbClr>
          </a:solidFill>
          <a:ln w="12700">
            <a:solidFill>
              <a:srgbClr val="C9B9AE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3182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SEO-Optimized Structure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0624" y="3785616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HTML, Arabic meta descriptions, schema markup — built to rank for 'حضانة الشيخ زايد' and Montessori-related searches.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46704" y="3163824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6704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005072" y="3182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Scroll Animations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46704" y="3785616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Reveal-on-scroll effects throughout the site. Elements animate in as parents scroll down, keeping engagement high and the experience premium.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72784" y="3163824"/>
            <a:ext cx="548640" cy="548640"/>
          </a:xfrm>
          <a:prstGeom prst="ellipse">
            <a:avLst/>
          </a:prstGeom>
          <a:solidFill>
            <a:srgbClr val="2D2928"/>
          </a:solidFill>
          <a:ln w="12700">
            <a:solidFill>
              <a:srgbClr val="2D29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31152" y="3182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 Stats Strip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72784" y="3785616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counters: 30+ children, 5+ years, 15 max class, 98% satisfaction. Counts up when visitors scroll — visual proof of credibility.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WhatsApp Booking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typing. No form. No waiting. Parents send a tour request in under 10 seconds.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48840" y="2514600"/>
            <a:ext cx="3657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74320" y="1737360"/>
            <a:ext cx="2011680" cy="2377440"/>
          </a:xfrm>
          <a:prstGeom prst="rect">
            <a:avLst/>
          </a:prstGeom>
          <a:solidFill>
            <a:srgbClr val="3A3532"/>
          </a:solidFill>
          <a:ln w="12700">
            <a:solidFill>
              <a:srgbClr val="444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01368"/>
            <a:ext cx="548640" cy="5486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24505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3090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a Card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456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Tour / Ask Fees / Ask Question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5112" y="2514600"/>
            <a:ext cx="3657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450592" y="1737360"/>
            <a:ext cx="2011680" cy="2377440"/>
          </a:xfrm>
          <a:prstGeom prst="rect">
            <a:avLst/>
          </a:prstGeom>
          <a:solidFill>
            <a:srgbClr val="3A3532"/>
          </a:solidFill>
          <a:ln w="12700">
            <a:solidFill>
              <a:srgbClr val="444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1801368"/>
            <a:ext cx="548640" cy="5486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50592" y="24505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42032" y="3090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Options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42032" y="3456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chips + time chips (one tap each)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01384" y="2514600"/>
            <a:ext cx="3657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626864" y="1737360"/>
            <a:ext cx="2011680" cy="2377440"/>
          </a:xfrm>
          <a:prstGeom prst="rect">
            <a:avLst/>
          </a:prstGeom>
          <a:solidFill>
            <a:srgbClr val="3A3532"/>
          </a:solidFill>
          <a:ln w="12700">
            <a:solidFill>
              <a:srgbClr val="444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58384" y="1801368"/>
            <a:ext cx="548640" cy="5486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58384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26864" y="24505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18304" y="3090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Preview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8304" y="3456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bubble shows ready-to-send message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03136" y="1737360"/>
            <a:ext cx="2011680" cy="2377440"/>
          </a:xfrm>
          <a:prstGeom prst="rect">
            <a:avLst/>
          </a:prstGeom>
          <a:solidFill>
            <a:srgbClr val="3A3532"/>
          </a:solidFill>
          <a:ln w="12700">
            <a:solidFill>
              <a:srgbClr val="444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34656" y="1801368"/>
            <a:ext cx="548640" cy="5486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34656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03136" y="24505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94576" y="3090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 Send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94576" y="34564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opens — message already typed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251960"/>
            <a:ext cx="4160520" cy="658368"/>
          </a:xfrm>
          <a:prstGeom prst="rect">
            <a:avLst/>
          </a:prstGeom>
          <a:solidFill>
            <a:srgbClr val="3A1A1A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5196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Old form: fill 6 fields → submit → wait 2 days → parent already enrolled elsewhere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4251960"/>
            <a:ext cx="4160520" cy="658368"/>
          </a:xfrm>
          <a:prstGeom prst="rect">
            <a:avLst/>
          </a:prstGeom>
          <a:solidFill>
            <a:srgbClr val="1A2E1A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25196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C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New flow: tap card → choose options → hit send → Haven replies in minutes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2928"/>
          </a:solidFill>
          <a:ln w="12700">
            <a:solidFill>
              <a:srgbClr val="2D29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8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B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+ SEO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0" y="109728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to Every Sheikh Zayed Parent — In Their Language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4160520" cy="54864"/>
          </a:xfrm>
          <a:prstGeom prst="rect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Bilingual Arabic / English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AR ⇄ EN language toggle in navbar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Arabic translation of every word on the site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(right-to-left) layout switches automatically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font (Amiri) loads for authentic typography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4381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 + meta description in Arabic for Google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8679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messages pre-written in parent's language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default: detects browser language automatically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1115568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115568"/>
            <a:ext cx="4160520" cy="54864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20700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 Search Engine Optimization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46320" y="1719072"/>
            <a:ext cx="3840480" cy="374904"/>
          </a:xfrm>
          <a:prstGeom prst="rect">
            <a:avLst/>
          </a:prstGeom>
          <a:solidFill>
            <a:srgbClr val="FDF3EC"/>
          </a:solidFill>
          <a:ln w="12700">
            <a:solidFill>
              <a:srgbClr val="E5DA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structure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69480" y="17373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E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reads it perfectly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148840"/>
            <a:ext cx="3840480" cy="374904"/>
          </a:xfrm>
          <a:prstGeom prst="rect">
            <a:avLst/>
          </a:prstGeom>
          <a:solidFill>
            <a:srgbClr val="FDFAF7"/>
          </a:solidFill>
          <a:ln w="12700">
            <a:solidFill>
              <a:srgbClr val="E5DA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167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meta title + description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69480" y="21671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E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for Arabic searches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578608"/>
            <a:ext cx="3840480" cy="374904"/>
          </a:xfrm>
          <a:prstGeom prst="rect">
            <a:avLst/>
          </a:prstGeom>
          <a:solidFill>
            <a:srgbClr val="FDF3EC"/>
          </a:solidFill>
          <a:ln w="12700">
            <a:solidFill>
              <a:srgbClr val="E5DA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5968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keyword ready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69480" y="259689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E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حضانة مونتيسوري الشيخ زايد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008376"/>
            <a:ext cx="3840480" cy="374904"/>
          </a:xfrm>
          <a:prstGeom prst="rect">
            <a:avLst/>
          </a:prstGeom>
          <a:solidFill>
            <a:srgbClr val="FDFAF7"/>
          </a:solidFill>
          <a:ln w="12700">
            <a:solidFill>
              <a:srgbClr val="E5DA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0266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load speed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69480" y="302666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E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file, no bloat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438144"/>
            <a:ext cx="3840480" cy="374904"/>
          </a:xfrm>
          <a:prstGeom prst="rect">
            <a:avLst/>
          </a:prstGeom>
          <a:solidFill>
            <a:srgbClr val="FDF3EC"/>
          </a:solidFill>
          <a:ln w="12700">
            <a:solidFill>
              <a:srgbClr val="E5DA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456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indexing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69480" y="345643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E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ranks mobile version first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67912"/>
            <a:ext cx="3840480" cy="374904"/>
          </a:xfrm>
          <a:prstGeom prst="rect">
            <a:avLst/>
          </a:prstGeom>
          <a:solidFill>
            <a:srgbClr val="FDFAF7"/>
          </a:solidFill>
          <a:ln w="12700">
            <a:solidFill>
              <a:srgbClr val="E5DAD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56048" y="3886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 (LocalBusiness)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69480" y="388620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E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map pack results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297680"/>
            <a:ext cx="3840480" cy="374904"/>
          </a:xfrm>
          <a:prstGeom prst="rect">
            <a:avLst/>
          </a:prstGeom>
          <a:solidFill>
            <a:srgbClr val="FDF3EC"/>
          </a:solidFill>
          <a:ln w="12700">
            <a:solidFill>
              <a:srgbClr val="E5DA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4315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Graph tags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69480" y="43159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E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previews on WhatsApp / Facebook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2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B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Website Pays for Itself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15,000 EGP/month per child — acquiring just 1 new family via the website covers the entire first year cost.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755648"/>
            <a:ext cx="2743200" cy="1508760"/>
          </a:xfrm>
          <a:prstGeom prst="rect">
            <a:avLst/>
          </a:prstGeom>
          <a:solidFill>
            <a:srgbClr val="3A3532"/>
          </a:solidFill>
          <a:ln w="12700">
            <a:solidFill>
              <a:srgbClr val="F2B28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755648"/>
            <a:ext cx="2743200" cy="54864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Child Enrolled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2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15,000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/ month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755648"/>
            <a:ext cx="2743200" cy="1508760"/>
          </a:xfrm>
          <a:prstGeom prst="rect">
            <a:avLst/>
          </a:prstGeom>
          <a:solidFill>
            <a:srgbClr val="3A3532"/>
          </a:solidFill>
          <a:ln w="12700">
            <a:solidFill>
              <a:srgbClr val="B5D5A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755648"/>
            <a:ext cx="2743200" cy="54864"/>
          </a:xfrm>
          <a:prstGeom prst="rect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Tuition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5D5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180,000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per child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755648"/>
            <a:ext cx="2743200" cy="1508760"/>
          </a:xfrm>
          <a:prstGeom prst="rect">
            <a:avLst/>
          </a:prstGeom>
          <a:solidFill>
            <a:srgbClr val="3A3532"/>
          </a:solidFill>
          <a:ln w="12700">
            <a:solidFill>
              <a:srgbClr val="C9B9AE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755648"/>
            <a:ext cx="2743200" cy="54864"/>
          </a:xfrm>
          <a:prstGeom prst="rect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8470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Full Cost*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1945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B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39,600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263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(yr 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8595360" cy="822960"/>
          </a:xfrm>
          <a:prstGeom prst="rect">
            <a:avLst/>
          </a:prstGeom>
          <a:solidFill>
            <a:srgbClr val="7EA872">
              <a:alpha val="15000"/>
            </a:srgbClr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0156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D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Break-even: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costs 39,600 EGP in Year 1 (18,000 build + 21,600 monthly). Acquiring just </a:t>
            </a:r>
            <a:r>
              <a:rPr lang="en-US" sz="1300" b="1" dirty="0">
                <a:solidFill>
                  <a:srgbClr val="F2B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children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found Haven via Google generates 540,000 EGP/year — a </a:t>
            </a:r>
            <a:r>
              <a:rPr lang="en-US" sz="1300" b="1" dirty="0">
                <a:solidFill>
                  <a:srgbClr val="B5D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13.6× return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18,000 EGP build fee + 1,800 EGP/mo × 12 months = 39,600 EGP total Year 1 cost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2928"/>
          </a:solidFill>
          <a:ln w="12700">
            <a:solidFill>
              <a:srgbClr val="2D29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8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B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0" y="109728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Transparent Pricing — No Surprises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023360" cy="3794760"/>
          </a:xfrm>
          <a:prstGeom prst="rect">
            <a:avLst/>
          </a:prstGeom>
          <a:solidFill>
            <a:srgbClr val="2D2928"/>
          </a:solidFill>
          <a:ln w="12700">
            <a:solidFill>
              <a:srgbClr val="F2B28A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4023360" cy="73152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B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BUILD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18,000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B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 —  Paid Once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3566160" cy="22860"/>
          </a:xfrm>
          <a:prstGeom prst="rect">
            <a:avLst/>
          </a:prstGeom>
          <a:solidFill>
            <a:srgbClr val="444040"/>
          </a:solidFill>
          <a:ln w="12700">
            <a:solidFill>
              <a:srgbClr val="44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992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 website (14 sections)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Brand-faithful design — peach, sage, taupe, charcoal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3649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logo recreation in nav + footer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5478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booking flow (3-card interactive)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7307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AR ⇄ EN with RTL support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SEO-optimized HTML 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0965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layout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2793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animations &amp; counter stats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462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+ Google Maps placeholder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6451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single deployable file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115568"/>
            <a:ext cx="40233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115568"/>
            <a:ext cx="4023360" cy="73152"/>
          </a:xfrm>
          <a:prstGeom prst="rect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261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E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RETAINER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609344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1,800</a:t>
            </a:r>
            <a:endParaRPr lang="en-US" sz="5800" dirty="0"/>
          </a:p>
        </p:txBody>
      </p:sp>
      <p:sp>
        <p:nvSpPr>
          <p:cNvPr id="25" name="Text 23"/>
          <p:cNvSpPr/>
          <p:nvPr/>
        </p:nvSpPr>
        <p:spPr>
          <a:xfrm>
            <a:off x="5029200" y="2487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/ month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2907792"/>
            <a:ext cx="3566160" cy="22860"/>
          </a:xfrm>
          <a:prstGeom prst="rect">
            <a:avLst/>
          </a:prstGeom>
          <a:solidFill>
            <a:srgbClr val="E5DAD5"/>
          </a:solidFill>
          <a:ln w="12700">
            <a:solidFill>
              <a:srgbClr val="E5DA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9992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hosting on fast, secure server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31821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 (HTTPS padlock)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0" y="33649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content updates (text, photos, fees)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35478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number updates as needed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0" y="37307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&amp; browser compatibility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0" y="39136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monthly report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0" y="40965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monitoring + keyword tracking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0" y="42793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via WhatsApp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0" y="4462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design refresh (minor)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0" y="46451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anytime — no long-term lock-in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2928"/>
          </a:solidFill>
          <a:ln w="12700">
            <a:solidFill>
              <a:srgbClr val="2D29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8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5D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0" y="109728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Feature List — All Included in 18,000 EGP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88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788920" cy="54864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070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Brand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682496"/>
            <a:ext cx="164592" cy="164592"/>
          </a:xfrm>
          <a:prstGeom prst="ellipse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66420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brand colors from real logo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066544"/>
            <a:ext cx="164592" cy="164592"/>
          </a:xfrm>
          <a:prstGeom prst="ellipse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04825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house logo in nav + footer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450592"/>
            <a:ext cx="164592" cy="164592"/>
          </a:xfrm>
          <a:prstGeom prst="ellipse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43230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Cormorant Garamond / Jost / Amiri fonts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834640"/>
            <a:ext cx="164592" cy="164592"/>
          </a:xfrm>
          <a:prstGeom prst="ellipse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81635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reveal animations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3218688"/>
            <a:ext cx="164592" cy="164592"/>
          </a:xfrm>
          <a:prstGeom prst="ellipse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20040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stat counters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3602736"/>
            <a:ext cx="164592" cy="164592"/>
          </a:xfrm>
          <a:prstGeom prst="ellipse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358444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layout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3986784"/>
            <a:ext cx="164592" cy="164592"/>
          </a:xfrm>
          <a:prstGeom prst="ellipse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96849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with photo collage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" y="4370832"/>
            <a:ext cx="164592" cy="164592"/>
          </a:xfrm>
          <a:prstGeom prst="ellipse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435254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triangle shape (from cover)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1115568"/>
            <a:ext cx="2788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1115568"/>
            <a:ext cx="2788920" cy="54864"/>
          </a:xfrm>
          <a:prstGeom prst="rect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2070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Features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64992" y="1682496"/>
            <a:ext cx="164592" cy="164592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166420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3-card WhatsApp booking 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64992" y="2066544"/>
            <a:ext cx="164592" cy="164592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02736" y="204825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Pre-written bilingual WA messages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64992" y="2450592"/>
            <a:ext cx="164592" cy="164592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243230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floating button + pulse ring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64992" y="2834640"/>
            <a:ext cx="164592" cy="164592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281635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booking form → WA submit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64992" y="3218688"/>
            <a:ext cx="164592" cy="164592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02736" y="320040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7-question FAQ accordion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64992" y="3602736"/>
            <a:ext cx="164592" cy="164592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02736" y="358444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parent testimonials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64992" y="3986784"/>
            <a:ext cx="164592" cy="164592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02736" y="396849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pills in hero section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64992" y="4370832"/>
            <a:ext cx="164592" cy="164592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02736" y="435254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 with Book a Tour CTA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1115568"/>
            <a:ext cx="2788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AD5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1115568"/>
            <a:ext cx="2788920" cy="54864"/>
          </a:xfrm>
          <a:prstGeom prst="rect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12070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&amp; SEO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91072" y="1682496"/>
            <a:ext cx="164592" cy="164592"/>
          </a:xfrm>
          <a:prstGeom prst="ellipse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28816" y="166420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bilingual AR ⇄ EN toggle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91072" y="2066544"/>
            <a:ext cx="164592" cy="164592"/>
          </a:xfrm>
          <a:prstGeom prst="ellipse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28816" y="204825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layout for Arabic mode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91072" y="2450592"/>
            <a:ext cx="164592" cy="164592"/>
          </a:xfrm>
          <a:prstGeom prst="ellipse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8816" y="243230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meta title + description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91072" y="2834640"/>
            <a:ext cx="164592" cy="164592"/>
          </a:xfrm>
          <a:prstGeom prst="ellipse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28816" y="281635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Graph (WhatsApp previews)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91072" y="3218688"/>
            <a:ext cx="164592" cy="164592"/>
          </a:xfrm>
          <a:prstGeom prst="ellipse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28816" y="320040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embed placeholder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91072" y="3602736"/>
            <a:ext cx="164592" cy="164592"/>
          </a:xfrm>
          <a:prstGeom prst="ellipse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8816" y="358444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page link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291072" y="3986784"/>
            <a:ext cx="164592" cy="164592"/>
          </a:xfrm>
          <a:prstGeom prst="ellipse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28816" y="3968496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program cards (Infant/Toddler/Casa)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291072" y="4370832"/>
            <a:ext cx="164592" cy="164592"/>
          </a:xfrm>
          <a:prstGeom prst="ellipse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28816" y="4352544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section + activities grid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2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5D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Proposal to Live — in 7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051560" cy="548640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173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600200"/>
            <a:ext cx="182880" cy="182880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5336" y="1801368"/>
            <a:ext cx="0" cy="329184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🤝  Agreement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17647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proposal. Share real phone number for WA links, full address for Maps, team names/photos, and any content updates.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30552"/>
            <a:ext cx="1051560" cy="548640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3055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2–3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2313432"/>
            <a:ext cx="182880" cy="182880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45336" y="2514600"/>
            <a:ext cx="0" cy="329184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2130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Content 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247802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 replace emoji placeholders. Actual team bios, correct address, phone number, and any fee or program updates applied.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43784"/>
            <a:ext cx="1051560" cy="548640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4378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4–5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63040" y="3026664"/>
            <a:ext cx="182880" cy="182880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5336" y="3227832"/>
            <a:ext cx="0" cy="329184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28437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 Review &amp; Revisions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83080" y="319125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preview link for your feedback. One full round of revisions included — adjust colors, copy, layout, or any section.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557016"/>
            <a:ext cx="1051560" cy="548640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5701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63040" y="3739896"/>
            <a:ext cx="182880" cy="182880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45336" y="3941064"/>
            <a:ext cx="0" cy="329184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35570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SEO Setup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83080" y="390448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Arabic/English meta tags finalized. Google Analytics connected. Open Graph tags configured for beautiful WhatsApp link previews.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1051560" cy="548640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7024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9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463040" y="4453128"/>
            <a:ext cx="182880" cy="182880"/>
          </a:xfrm>
          <a:prstGeom prst="ellipse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83080" y="4270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 Go Live 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783080" y="461772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deployed to your domain (havennursery.com or similar). SSL certificate active. You start appearing in Google searches.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754880"/>
            <a:ext cx="8595360" cy="237744"/>
          </a:xfrm>
          <a:prstGeom prst="rect">
            <a:avLst/>
          </a:prstGeom>
          <a:solidFill>
            <a:srgbClr val="F2B28A">
              <a:alpha val="15000"/>
            </a:srgbClr>
          </a:solidFill>
          <a:ln w="12700">
            <a:solidFill>
              <a:srgbClr val="F2B28A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548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A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launch? Reply to this proposal or send a WhatsApp message — we can have the site live before your next enrollment season.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2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F2B28A">
              <a:alpha val="12000"/>
            </a:srgbClr>
          </a:solidFill>
          <a:ln w="12700">
            <a:solidFill>
              <a:srgbClr val="F2B28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B5D5A8">
              <a:alpha val="15000"/>
            </a:srgbClr>
          </a:solidFill>
          <a:ln w="12700">
            <a:solidFill>
              <a:srgbClr val="B5D5A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320040" cy="288036"/>
          </a:xfrm>
          <a:prstGeom prst="rect">
            <a:avLst/>
          </a:prstGeom>
          <a:solidFill>
            <a:srgbClr val="B5D5A8"/>
          </a:solidFill>
          <a:ln w="12700">
            <a:solidFill>
              <a:srgbClr val="B5D5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502920"/>
            <a:ext cx="320040" cy="288036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797357"/>
            <a:ext cx="320040" cy="262433"/>
          </a:xfrm>
          <a:prstGeom prst="rect">
            <a:avLst/>
          </a:prstGeom>
          <a:solidFill>
            <a:srgbClr val="C9B9AE"/>
          </a:solidFill>
          <a:ln w="12700">
            <a:solidFill>
              <a:srgbClr val="C9B9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797357"/>
            <a:ext cx="320040" cy="262433"/>
          </a:xfrm>
          <a:prstGeom prst="rect">
            <a:avLst/>
          </a:prstGeom>
          <a:solidFill>
            <a:srgbClr val="3A3532"/>
          </a:solidFill>
          <a:ln w="12700">
            <a:solidFill>
              <a:srgbClr val="3A35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Haven Nursery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A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Learning Blooms Naturally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487168"/>
            <a:ext cx="2286000" cy="27432"/>
          </a:xfrm>
          <a:prstGeom prst="rect">
            <a:avLst/>
          </a:prstGeom>
          <a:solidFill>
            <a:srgbClr val="F2B28A"/>
          </a:solidFill>
          <a:ln w="12700">
            <a:solidFill>
              <a:srgbClr val="F2B2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334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summary: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035808"/>
            <a:ext cx="2606040" cy="1078992"/>
          </a:xfrm>
          <a:prstGeom prst="rect">
            <a:avLst/>
          </a:prstGeom>
          <a:solidFill>
            <a:srgbClr val="3A3532"/>
          </a:solidFill>
          <a:ln w="12700">
            <a:solidFill>
              <a:srgbClr val="F2B28A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08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One-Time Build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43814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B2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18,000 EGP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337560" y="3035808"/>
            <a:ext cx="2606040" cy="1078992"/>
          </a:xfrm>
          <a:prstGeom prst="rect">
            <a:avLst/>
          </a:prstGeom>
          <a:solidFill>
            <a:srgbClr val="3A3532"/>
          </a:solidFill>
          <a:ln w="12700">
            <a:solidFill>
              <a:srgbClr val="B5D5A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108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Monthly Retainer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74720" y="343814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5D5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1,800 EGP/mo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172200" y="3035808"/>
            <a:ext cx="2606040" cy="1078992"/>
          </a:xfrm>
          <a:prstGeom prst="rect">
            <a:avLst/>
          </a:prstGeom>
          <a:solidFill>
            <a:srgbClr val="3A3532"/>
          </a:solidFill>
          <a:ln w="12700">
            <a:solidFill>
              <a:srgbClr val="C9B9AE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108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Year 1 Total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343814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B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39,600 EGP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4251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make Haven the #1 nursery parents find in Sheikh Zayed.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4663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talk — WhatsApp, call, </a:t>
            </a:r>
            <a:r>
              <a:rPr lang="ar-EG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01550766542</a:t>
            </a: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1423</Words>
  <Application>Microsoft Office PowerPoint</Application>
  <PresentationFormat>On-screen Show (16:9)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Haven Nursery — Website Proposal</dc:title>
  <dc:subject>PptxGenJS Presentation</dc:subject>
  <dc:creator>PptxGenJS</dc:creator>
  <cp:lastModifiedBy>HP</cp:lastModifiedBy>
  <cp:revision>5</cp:revision>
  <dcterms:created xsi:type="dcterms:W3CDTF">2026-06-06T15:11:23Z</dcterms:created>
  <dcterms:modified xsi:type="dcterms:W3CDTF">2026-06-09T09:37:58Z</dcterms:modified>
</cp:coreProperties>
</file>